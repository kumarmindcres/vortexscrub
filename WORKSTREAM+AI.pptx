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874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OPERATING MODEL · DIGITAL BANKING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23317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400" b="1" spc="-1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projects,</a:t>
            </a:r>
            <a:endParaRPr lang="en-US" sz="64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6400" b="1" spc="-1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back to workstreams.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41248" y="47091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AI-native operating model that restores single-owner accountability, brings craft back into delivery, and ships once across five markets.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SG       TH       MY       ID       VN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How we organise to deliver — in three chapters.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2788920"/>
            <a:ext cx="341985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7008" y="31546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~4 YEARS AGO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352044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Workstreams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16152" y="4416552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teams per domain. Clear, single-owner accountability.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24528" y="387248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18304" y="2788920"/>
            <a:ext cx="3419856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84064" y="31546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~2 YEARS AGO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4064" y="352044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93208" y="4416552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Reorganised around projects. Ownership ended; knowledge scattered.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01584" y="387248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595360" y="2788920"/>
            <a:ext cx="3419856" cy="2788920"/>
          </a:xfrm>
          <a:prstGeom prst="roundRect">
            <a:avLst>
              <a:gd name="adj" fmla="val 5246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0" y="315468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1D4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NOW → NEXT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3520440"/>
            <a:ext cx="277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AI-native workstreams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970264" y="4416552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restored, craft retained — accelerated by UDE and AI.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WHERE WE STARTED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Built around workstreams and craft.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2670048"/>
            <a:ext cx="2421560" cy="585216"/>
          </a:xfrm>
          <a:prstGeom prst="roundRect">
            <a:avLst>
              <a:gd name="adj" fmla="val 15625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670048"/>
            <a:ext cx="242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Transact &amp; Serve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52028" y="3255264"/>
            <a:ext cx="0" cy="23774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493008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493008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Lead TDM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accountable owner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2028" y="4133088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4279392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279392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TDMs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managers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52028" y="4919472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065776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5065776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 Squad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37128" y="2670048"/>
            <a:ext cx="2421560" cy="585216"/>
          </a:xfrm>
          <a:prstGeom prst="roundRect">
            <a:avLst>
              <a:gd name="adj" fmla="val 15625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37128" y="2670048"/>
            <a:ext cx="242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Onboarding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47908" y="3255264"/>
            <a:ext cx="0" cy="23774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7128" y="3493008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37128" y="3493008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Lead TDM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accountable owner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47908" y="4133088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7128" y="4279392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37128" y="4279392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TDMs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managers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47908" y="4919472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37128" y="5065776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37128" y="5065776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 Squad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3008" y="2670048"/>
            <a:ext cx="2421560" cy="585216"/>
          </a:xfrm>
          <a:prstGeom prst="roundRect">
            <a:avLst>
              <a:gd name="adj" fmla="val 15625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33008" y="2670048"/>
            <a:ext cx="242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Wealth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443788" y="3255264"/>
            <a:ext cx="0" cy="23774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3008" y="3493008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3008" y="3493008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Lead TDM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accountable owner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43788" y="4133088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3008" y="4279392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33008" y="4279392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TDMs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managers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43788" y="4919472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3008" y="5065776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33008" y="5065776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 Squad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28887" y="2670048"/>
            <a:ext cx="2421560" cy="585216"/>
          </a:xfrm>
          <a:prstGeom prst="roundRect">
            <a:avLst>
              <a:gd name="adj" fmla="val 15625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28887" y="2670048"/>
            <a:ext cx="242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139667" y="3255264"/>
            <a:ext cx="0" cy="23774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28887" y="3493008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928887" y="3493008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Lead TDM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accountable owner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139667" y="4133088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28887" y="4279392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928887" y="4279392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TDMs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managers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139667" y="4919472"/>
            <a:ext cx="0" cy="146304"/>
          </a:xfrm>
          <a:prstGeom prst="line">
            <a:avLst/>
          </a:prstGeom>
          <a:noFill/>
          <a:ln w="12700">
            <a:solidFill>
              <a:srgbClr val="AEB6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28887" y="5065776"/>
            <a:ext cx="2421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928887" y="5065776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 Squad</a:t>
            </a:r>
            <a:endParaRPr lang="en-US" sz="14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41248" y="5925312"/>
            <a:ext cx="10509199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225296" y="6053328"/>
            <a:ext cx="97776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Chapters</a:t>
            </a:r>
            <a:pPr indent="0" marL="0"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Architecture · System Analysis · Engineering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25296" y="6382512"/>
            <a:ext cx="9777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standards, patterns and people growth across every workstream.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WHY IT WORKED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Single ownership made everything else work.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7008" y="2953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01368" y="294436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Clear ownership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01368" y="34472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accountable Lead TDM per workstream — never any doubt about who owns the outcome.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47104" y="2697480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12864" y="2953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07224" y="294436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Fast resolution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07224" y="34472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issues had an owner; fixes never fell between teams at hand-off.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41248" y="4453128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07008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01368" y="470001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Consistent craft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01368" y="5202936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owned architecture, solutioning and standards, so quality stayed coherent.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47104" y="4453128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12864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07224" y="470001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Predictable delivery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07224" y="5202936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teams built deep domain knowledge and a dependable cadence.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TURNED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Two years ago, we reorganised around projects.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" y="2651760"/>
            <a:ext cx="528523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5296" y="296265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8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BEFORE · WORKSTREAMS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25296" y="3493008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27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teams per business domain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27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ownership of the outcome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27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Deep, retained domain knowledge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27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standing team to maintain &amp; regression-test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27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when something breaks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47104" y="2651760"/>
            <a:ext cx="5285232" cy="310896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31152" y="296265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8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AFTER · PROJECTS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31152" y="3493008"/>
            <a:ext cx="45354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271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formed and dissolved per project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271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ends when the project closes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271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scatters as teams disband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271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support became very difficult — no standing team to maintain &amp; re-test features</a:t>
            </a:r>
            <a:endParaRPr lang="en-US" sz="155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271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owner for live issues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stayed in place — but drifted further from day-to-day delivery.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TURNED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broke along the way.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18836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that kept dissolving made accountability and continuity the first casualties.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743200"/>
            <a:ext cx="10509199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25296" y="2743200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21408" y="274320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single 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13248" y="2743200"/>
            <a:ext cx="56628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something failed in production, nobody clearly owned the fix.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41248" y="3630168"/>
            <a:ext cx="10509199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25296" y="3630168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21408" y="363016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Knowledge walked out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13248" y="3630168"/>
            <a:ext cx="56628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dissolved at project end and hard-won context left with them.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41248" y="4517136"/>
            <a:ext cx="10509199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25296" y="4517136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21408" y="451713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Regression &amp; maintenance gaps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13248" y="4517136"/>
            <a:ext cx="56628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no standing team, regression and support for existing features became very difficult.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41248" y="5404104"/>
            <a:ext cx="10509199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25296" y="5404104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21408" y="540410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Cost crept up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13248" y="5404104"/>
            <a:ext cx="56628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gaps were filled by vendors, while craft and SAs drifted from delivery.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WHERE WE ARE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constraint and the breakthrough arrived together.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5285232" cy="315468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5296" y="3044952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Pressures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25296" y="3739896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vendor cost and dependency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fatigue and churning teams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Slow, owner-less issue resolution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Accountability gaps across channels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47104" y="2697480"/>
            <a:ext cx="5285232" cy="3154680"/>
          </a:xfrm>
          <a:prstGeom prst="roundRect">
            <a:avLst>
              <a:gd name="adj" fmla="val 4638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31152" y="3044952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-30" kern="0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Possibility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31152" y="3739896"/>
            <a:ext cx="4535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UDE generates screens &amp; service layers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Kick-start AI ways of working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towards in-house development</a:t>
            </a:r>
            <a:endParaRPr lang="en-US" sz="1650" dirty="0"/>
          </a:p>
          <a:p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35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2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Build-once, configure-per-market in reach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530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 MODEL WITH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778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Two AI tools power the new model.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5910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Everywhere this deck says “AI,” it means these two working together inside every workstream.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50260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86000"/>
            <a:ext cx="502600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43584" y="2596896"/>
            <a:ext cx="429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UDE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43584" y="3182112"/>
            <a:ext cx="429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Delivery Factory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43584" y="3584448"/>
            <a:ext cx="4221328" cy="457200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358444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Generates the application itself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98448" y="4224528"/>
            <a:ext cx="420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screens &amp; service layers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today, backend next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once, configure per market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as a service to every workstream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4448" y="2286000"/>
            <a:ext cx="50260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4448" y="2286000"/>
            <a:ext cx="5026000" cy="109728"/>
          </a:xfrm>
          <a:prstGeom prst="roundRect">
            <a:avLst>
              <a:gd name="adj" fmla="val 33333"/>
            </a:avLst>
          </a:prstGeom>
          <a:solidFill>
            <a:srgbClr val="6D5DE6"/>
          </a:solidFill>
          <a:ln/>
        </p:spPr>
      </p:sp>
      <p:sp>
        <p:nvSpPr>
          <p:cNvPr id="15" name="Text 13"/>
          <p:cNvSpPr/>
          <p:nvPr/>
        </p:nvSpPr>
        <p:spPr>
          <a:xfrm>
            <a:off x="6726784" y="2596896"/>
            <a:ext cx="429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4B3FB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Claude Code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26784" y="3182112"/>
            <a:ext cx="429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Coding Agent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6784" y="3584448"/>
            <a:ext cx="4221328" cy="457200"/>
          </a:xfrm>
          <a:prstGeom prst="roundRect">
            <a:avLst>
              <a:gd name="adj" fmla="val 20000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6784" y="358444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Does the engineering work, end-to-end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81648" y="4224528"/>
            <a:ext cx="420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6D5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Writes, tests and builds code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6D5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Drafts specs, reviews and plans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6D5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 agents, skills &amp; prompts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066" dirty="0">
                <a:solidFill>
                  <a:srgbClr val="6D5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every engineer in the squad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59070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UDE builds the application · Claude Code does the engineering — together they are the “AI” in this operating model.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530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 MODEL WITH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778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How the new model fits together.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10509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WORKSTREAMS — OWN DELIVERY END-TO-END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2435276" cy="1463040"/>
          </a:xfrm>
          <a:prstGeom prst="roundRect">
            <a:avLst>
              <a:gd name="adj" fmla="val 7500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231136"/>
            <a:ext cx="1978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spc="-2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Transact &amp; Serve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8992" y="2889504"/>
            <a:ext cx="1959788" cy="0"/>
          </a:xfrm>
          <a:prstGeom prst="line">
            <a:avLst/>
          </a:prstGeom>
          <a:noFill/>
          <a:ln w="12700">
            <a:solidFill>
              <a:srgbClr val="2A33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44368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 · 1 SA · Tech Leads · 2 squads max each · owns upgrades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2556" y="2011680"/>
            <a:ext cx="2435276" cy="1463040"/>
          </a:xfrm>
          <a:prstGeom prst="roundRect">
            <a:avLst>
              <a:gd name="adj" fmla="val 7500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0300" y="2231136"/>
            <a:ext cx="1978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spc="-2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70300" y="2889504"/>
            <a:ext cx="1959788" cy="0"/>
          </a:xfrm>
          <a:prstGeom prst="line">
            <a:avLst/>
          </a:prstGeom>
          <a:noFill/>
          <a:ln w="12700">
            <a:solidFill>
              <a:srgbClr val="2A33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0300" y="2944368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 · 1 SA · Tech Leads · 2 squads max each · owns upgrades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23864" y="2011680"/>
            <a:ext cx="2435276" cy="1463040"/>
          </a:xfrm>
          <a:prstGeom prst="roundRect">
            <a:avLst>
              <a:gd name="adj" fmla="val 7500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2231136"/>
            <a:ext cx="1978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spc="-2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Wealth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1608" y="2889504"/>
            <a:ext cx="1959788" cy="0"/>
          </a:xfrm>
          <a:prstGeom prst="line">
            <a:avLst/>
          </a:prstGeom>
          <a:noFill/>
          <a:ln w="12700">
            <a:solidFill>
              <a:srgbClr val="2A33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1608" y="2944368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 · 1 SA · Tech Leads · 2 squads max each · owns upgrades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171" y="2011680"/>
            <a:ext cx="2435276" cy="1463040"/>
          </a:xfrm>
          <a:prstGeom prst="roundRect">
            <a:avLst>
              <a:gd name="adj" fmla="val 7500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52915" y="2231136"/>
            <a:ext cx="1978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spc="-2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52915" y="2889504"/>
            <a:ext cx="1959788" cy="0"/>
          </a:xfrm>
          <a:prstGeom prst="line">
            <a:avLst/>
          </a:prstGeom>
          <a:noFill/>
          <a:ln w="12700">
            <a:solidFill>
              <a:srgbClr val="2A33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2915" y="2944368"/>
            <a:ext cx="197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 · 1 SA · Tech Leads · 2 squads max each · owns upgrades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3712464"/>
            <a:ext cx="10509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CHAPTER — SETS THE DIRECTION  ·  CROSS-CUTTING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" y="3986784"/>
            <a:ext cx="10509199" cy="1078992"/>
          </a:xfrm>
          <a:prstGeom prst="roundRect">
            <a:avLst>
              <a:gd name="adj" fmla="val 11864"/>
            </a:avLst>
          </a:prstGeom>
          <a:solidFill>
            <a:srgbClr val="EFEBFF"/>
          </a:solidFill>
          <a:ln w="15875">
            <a:solidFill>
              <a:srgbClr val="D6CFFA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25296" y="41696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4B3FB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 &amp; Engineering Chapter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225296" y="4608576"/>
            <a:ext cx="9741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AI engineers, tooling &amp; shared AI commons — and sets engineering standards &amp; craft across every workstream.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" y="5212080"/>
            <a:ext cx="10509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SHARED TEAMS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" y="5522976"/>
            <a:ext cx="5126584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5522976"/>
            <a:ext cx="4669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Release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delivery; tracks releases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23864" y="5522976"/>
            <a:ext cx="5126584" cy="768096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79896" y="5522976"/>
            <a:ext cx="4669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L3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production fixes &amp; support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530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 MODEL WITH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778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Inside a workstream.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810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SQUAD — EVERYONE BUILDS WITH 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29968" y="2066544"/>
            <a:ext cx="3108960" cy="603504"/>
          </a:xfrm>
          <a:prstGeom prst="roundRect">
            <a:avLst>
              <a:gd name="adj" fmla="val 15152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2219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88336" y="206654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Workstream Lead</a:t>
            </a:r>
            <a:endParaRPr lang="en-US" sz="14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4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outcome end-to-end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584448" y="2670048"/>
            <a:ext cx="0" cy="219456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29968" y="2889504"/>
            <a:ext cx="3108960" cy="603504"/>
          </a:xfrm>
          <a:prstGeom prst="roundRect">
            <a:avLst>
              <a:gd name="adj" fmla="val 15152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30449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88336" y="288950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Tech Lead</a:t>
            </a:r>
            <a:endParaRPr lang="en-US" sz="14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D4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player-coach · still ships code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3584448" y="3493008"/>
            <a:ext cx="0" cy="237744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72184" y="3730752"/>
            <a:ext cx="4224528" cy="0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72184" y="3730752"/>
            <a:ext cx="0" cy="219456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" y="3950208"/>
            <a:ext cx="1261872" cy="109728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41330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" y="453542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Full-Stack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59536" y="482803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E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AI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2880360" y="3730752"/>
            <a:ext cx="0" cy="219456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49424" y="3950208"/>
            <a:ext cx="1261872" cy="109728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41330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67712" y="453542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Full-Stack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267712" y="482803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E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AI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288536" y="3730752"/>
            <a:ext cx="0" cy="219456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0" y="3950208"/>
            <a:ext cx="1261872" cy="1097280"/>
          </a:xfrm>
          <a:prstGeom prst="roundRect">
            <a:avLst>
              <a:gd name="adj" fmla="val 8333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656" y="4133088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75888" y="453542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675888" y="482803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AI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696712" y="3730752"/>
            <a:ext cx="0" cy="219456"/>
          </a:xfrm>
          <a:prstGeom prst="line">
            <a:avLst/>
          </a:prstGeom>
          <a:noFill/>
          <a:ln w="15875">
            <a:solidFill>
              <a:srgbClr val="AEB6C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65776" y="3950208"/>
            <a:ext cx="1261872" cy="1097280"/>
          </a:xfrm>
          <a:prstGeom prst="roundRect">
            <a:avLst>
              <a:gd name="adj" fmla="val 8333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4133088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084064" y="453542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84064" y="482803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AI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41248" y="51572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 · max 4 engineers, all AI-augmented · up to 2 squads per Tech Lead.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41248" y="54681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3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WORKSTREAM OWNS IT END-TO-END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841248" y="5760720"/>
            <a:ext cx="1193292" cy="713232"/>
          </a:xfrm>
          <a:prstGeom prst="roundRect">
            <a:avLst>
              <a:gd name="adj" fmla="val 12821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877824" y="5888736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Analyse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877824" y="6163056"/>
            <a:ext cx="112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Analyst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034540" y="5760720"/>
            <a:ext cx="237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Shape 33"/>
          <p:cNvSpPr/>
          <p:nvPr/>
        </p:nvSpPr>
        <p:spPr>
          <a:xfrm>
            <a:off x="2272284" y="5760720"/>
            <a:ext cx="11932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2308860" y="5888736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Build &amp; Release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2308860" y="6163056"/>
            <a:ext cx="112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squad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3465576" y="5760720"/>
            <a:ext cx="237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3703320" y="5760720"/>
            <a:ext cx="119329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3739896" y="5888736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Deploy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3739896" y="6163056"/>
            <a:ext cx="112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Release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4896612" y="5760720"/>
            <a:ext cx="237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9" name="Shape 41"/>
          <p:cNvSpPr/>
          <p:nvPr/>
        </p:nvSpPr>
        <p:spPr>
          <a:xfrm>
            <a:off x="5134356" y="5760720"/>
            <a:ext cx="1193292" cy="713232"/>
          </a:xfrm>
          <a:prstGeom prst="roundRect">
            <a:avLst>
              <a:gd name="adj" fmla="val 12821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5170932" y="5888736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Run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5170932" y="6163056"/>
            <a:ext cx="112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upgrades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6784848" y="1865376"/>
            <a:ext cx="4748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CHAPTER — OWNS AI ENGINEERS &amp; TOOLING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6784848" y="2212848"/>
            <a:ext cx="4565599" cy="1773936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54" name="Text 46"/>
          <p:cNvSpPr/>
          <p:nvPr/>
        </p:nvSpPr>
        <p:spPr>
          <a:xfrm>
            <a:off x="7040880" y="2395728"/>
            <a:ext cx="4108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 Chapter builds the tooling</a:t>
            </a:r>
            <a:endParaRPr lang="en-US" sz="1500" dirty="0"/>
          </a:p>
        </p:txBody>
      </p:sp>
      <p:sp>
        <p:nvSpPr>
          <p:cNvPr id="55" name="Shape 47"/>
          <p:cNvSpPr/>
          <p:nvPr/>
        </p:nvSpPr>
        <p:spPr>
          <a:xfrm>
            <a:off x="7040880" y="2816352"/>
            <a:ext cx="1953616" cy="402336"/>
          </a:xfrm>
          <a:prstGeom prst="roundRect">
            <a:avLst>
              <a:gd name="adj" fmla="val 20455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040880" y="2816352"/>
            <a:ext cx="195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Prompts</a:t>
            </a:r>
            <a:endParaRPr lang="en-US" sz="1150" dirty="0"/>
          </a:p>
        </p:txBody>
      </p:sp>
      <p:sp>
        <p:nvSpPr>
          <p:cNvPr id="57" name="Shape 49"/>
          <p:cNvSpPr/>
          <p:nvPr/>
        </p:nvSpPr>
        <p:spPr>
          <a:xfrm>
            <a:off x="9140800" y="2816352"/>
            <a:ext cx="1953616" cy="402336"/>
          </a:xfrm>
          <a:prstGeom prst="roundRect">
            <a:avLst>
              <a:gd name="adj" fmla="val 20455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9140800" y="2816352"/>
            <a:ext cx="195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Agents</a:t>
            </a:r>
            <a:endParaRPr lang="en-US" sz="1150" dirty="0"/>
          </a:p>
        </p:txBody>
      </p:sp>
      <p:sp>
        <p:nvSpPr>
          <p:cNvPr id="59" name="Shape 51"/>
          <p:cNvSpPr/>
          <p:nvPr/>
        </p:nvSpPr>
        <p:spPr>
          <a:xfrm>
            <a:off x="7040880" y="3328416"/>
            <a:ext cx="1953616" cy="402336"/>
          </a:xfrm>
          <a:prstGeom prst="roundRect">
            <a:avLst>
              <a:gd name="adj" fmla="val 20455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7040880" y="3328416"/>
            <a:ext cx="195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Skills</a:t>
            </a:r>
            <a:endParaRPr lang="en-US" sz="1150" dirty="0"/>
          </a:p>
        </p:txBody>
      </p:sp>
      <p:sp>
        <p:nvSpPr>
          <p:cNvPr id="61" name="Shape 53"/>
          <p:cNvSpPr/>
          <p:nvPr/>
        </p:nvSpPr>
        <p:spPr>
          <a:xfrm>
            <a:off x="9140800" y="3328416"/>
            <a:ext cx="1953616" cy="402336"/>
          </a:xfrm>
          <a:prstGeom prst="roundRect">
            <a:avLst>
              <a:gd name="adj" fmla="val 20455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9140800" y="3328416"/>
            <a:ext cx="195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Utilities</a:t>
            </a:r>
            <a:endParaRPr lang="en-US" sz="1150" dirty="0"/>
          </a:p>
        </p:txBody>
      </p:sp>
      <p:sp>
        <p:nvSpPr>
          <p:cNvPr id="63" name="Text 55"/>
          <p:cNvSpPr/>
          <p:nvPr/>
        </p:nvSpPr>
        <p:spPr>
          <a:xfrm>
            <a:off x="8793328" y="3950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700" dirty="0"/>
          </a:p>
        </p:txBody>
      </p:sp>
      <p:sp>
        <p:nvSpPr>
          <p:cNvPr id="64" name="Shape 56"/>
          <p:cNvSpPr/>
          <p:nvPr/>
        </p:nvSpPr>
        <p:spPr>
          <a:xfrm>
            <a:off x="6784848" y="4169664"/>
            <a:ext cx="4565599" cy="841248"/>
          </a:xfrm>
          <a:prstGeom prst="roundRect">
            <a:avLst>
              <a:gd name="adj" fmla="val 15217"/>
            </a:avLst>
          </a:prstGeom>
          <a:solidFill>
            <a:srgbClr val="6D5DE6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5" name="Text 57"/>
          <p:cNvSpPr/>
          <p:nvPr/>
        </p:nvSpPr>
        <p:spPr>
          <a:xfrm>
            <a:off x="7040880" y="4169664"/>
            <a:ext cx="41083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Shared AI Commons</a:t>
            </a:r>
            <a:endParaRPr lang="en-US" sz="15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9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curated by the AI Chapter</a:t>
            </a:r>
            <a:endParaRPr lang="en-US" sz="1550" dirty="0"/>
          </a:p>
        </p:txBody>
      </p:sp>
      <p:sp>
        <p:nvSpPr>
          <p:cNvPr id="66" name="Text 58"/>
          <p:cNvSpPr/>
          <p:nvPr/>
        </p:nvSpPr>
        <p:spPr>
          <a:xfrm>
            <a:off x="8793328" y="4974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700" dirty="0"/>
          </a:p>
        </p:txBody>
      </p:sp>
      <p:sp>
        <p:nvSpPr>
          <p:cNvPr id="67" name="Shape 59"/>
          <p:cNvSpPr/>
          <p:nvPr/>
        </p:nvSpPr>
        <p:spPr>
          <a:xfrm>
            <a:off x="6784848" y="5193792"/>
            <a:ext cx="4565599" cy="841248"/>
          </a:xfrm>
          <a:prstGeom prst="roundRect">
            <a:avLst>
              <a:gd name="adj" fmla="val 17391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8" name="Text 60"/>
          <p:cNvSpPr/>
          <p:nvPr/>
        </p:nvSpPr>
        <p:spPr>
          <a:xfrm>
            <a:off x="7040880" y="5193792"/>
            <a:ext cx="41083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Reused by every workstream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 · Onboarding · Wealth · Engagement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530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DELIVERY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778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process — and who's involved at each step.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1248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step is AI-accelerated, so a Tech Lead and one or two executors deliver what used to take a full squad.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1248" y="2194560"/>
            <a:ext cx="2421560" cy="3346704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2416" y="2377440"/>
            <a:ext cx="205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42416" y="2578608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Requirement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42416" y="3291840"/>
            <a:ext cx="292608" cy="292608"/>
          </a:xfrm>
          <a:prstGeom prst="ellipse">
            <a:avLst/>
          </a:prstGeom>
          <a:solidFill>
            <a:srgbClr val="12161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3351276"/>
            <a:ext cx="173736" cy="1737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3291840"/>
            <a:ext cx="170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 / FBA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42416" y="3712464"/>
            <a:ext cx="2019224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2416" y="3803904"/>
            <a:ext cx="2037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business intent &amp; priorities.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42416" y="4828032"/>
            <a:ext cx="2019224" cy="54864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828032"/>
            <a:ext cx="1909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D4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drafts stories &amp; acceptance notes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44520" y="2523744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37128" y="2194560"/>
            <a:ext cx="2421560" cy="3346704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38296" y="2377440"/>
            <a:ext cx="205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738296" y="2578608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Spec, Tooling &amp; Architecture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738296" y="329184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732" y="3351276"/>
            <a:ext cx="173736" cy="1737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85768" y="3291840"/>
            <a:ext cx="170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System Analyst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38296" y="3675888"/>
            <a:ext cx="292608" cy="292608"/>
          </a:xfrm>
          <a:prstGeom prst="ellipse">
            <a:avLst/>
          </a:prstGeom>
          <a:solidFill>
            <a:srgbClr val="6D5DE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732" y="3735324"/>
            <a:ext cx="173736" cy="1737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85768" y="3675888"/>
            <a:ext cx="170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4B3F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&amp; Engineering Chapter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738296" y="4096512"/>
            <a:ext cx="2019224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38296" y="4187952"/>
            <a:ext cx="2037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 writes the spec; chapter supplies tools &amp; architecture.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738296" y="4828032"/>
            <a:ext cx="2019224" cy="54864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D6CFF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793160" y="4828032"/>
            <a:ext cx="1909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4B3FB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generates spec; tooling reused across workstreams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5940400" y="2523744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233008" y="2194560"/>
            <a:ext cx="2421560" cy="3346704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434176" y="2377440"/>
            <a:ext cx="205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 3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434176" y="2578608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Direct, Review &amp; Sign-off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6434176" y="3291840"/>
            <a:ext cx="292608" cy="292608"/>
          </a:xfrm>
          <a:prstGeom prst="ellipse">
            <a:avLst/>
          </a:prstGeom>
          <a:solidFill>
            <a:srgbClr val="12161D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12" y="3351276"/>
            <a:ext cx="173736" cy="17373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781648" y="3291840"/>
            <a:ext cx="170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Tech Lead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434176" y="3712464"/>
            <a:ext cx="2019224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34176" y="3803904"/>
            <a:ext cx="2037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Directs the build, reviews (TDA), gives technical input.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434176" y="4828032"/>
            <a:ext cx="2019224" cy="54864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489040" y="4828032"/>
            <a:ext cx="1909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D4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does first-pass review &amp; flags risk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8636279" y="2523744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8928887" y="2194560"/>
            <a:ext cx="2421560" cy="3346704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9130055" y="2377440"/>
            <a:ext cx="205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 4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9130055" y="2578608"/>
            <a:ext cx="205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spc="-2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Execute &amp; Build</a:t>
            </a:r>
            <a:endParaRPr lang="en-US" sz="1350" dirty="0"/>
          </a:p>
        </p:txBody>
      </p:sp>
      <p:sp>
        <p:nvSpPr>
          <p:cNvPr id="45" name="Shape 39"/>
          <p:cNvSpPr/>
          <p:nvPr/>
        </p:nvSpPr>
        <p:spPr>
          <a:xfrm>
            <a:off x="9130055" y="329184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491" y="3351276"/>
            <a:ext cx="173736" cy="17373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477527" y="3291840"/>
            <a:ext cx="170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1D4ED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Executors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9130055" y="3712464"/>
            <a:ext cx="2019224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9130055" y="3803904"/>
            <a:ext cx="2037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code, build &amp; ship — frontend + backend.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9130055" y="4828032"/>
            <a:ext cx="2019224" cy="54864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184919" y="4828032"/>
            <a:ext cx="1909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D4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writes, tests &amp; builds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841248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shift:  </a:t>
            </a:r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supply the tooling &amp; architecture, the Tech Lead directs, and 1–2 executors build — what once needed a 4-person squad.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5303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NEW ROLES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7782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Our roles, transformed by AI.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591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people, same workstream roles — each one amplified by AI.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41248" y="2139696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39696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12161D"/>
          </a:solidFill>
          <a:ln/>
        </p:spPr>
      </p:sp>
      <p:sp>
        <p:nvSpPr>
          <p:cNvPr id="8" name="Text 6"/>
          <p:cNvSpPr/>
          <p:nvPr/>
        </p:nvSpPr>
        <p:spPr>
          <a:xfrm>
            <a:off x="1152144" y="2340864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Workstream Lead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" y="2651760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owns the outcome end-to-end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52144" y="2926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" y="3090672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&amp; tracks delivery across squads.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52144" y="3383280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52144" y="3547872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drafts plans, status and risk views — leads with live insight, not status-chasing.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5754" y="2139696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5754" y="2139696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12161D"/>
          </a:solidFill>
          <a:ln/>
        </p:spPr>
      </p:sp>
      <p:sp>
        <p:nvSpPr>
          <p:cNvPr id="16" name="Text 14"/>
          <p:cNvSpPr/>
          <p:nvPr/>
        </p:nvSpPr>
        <p:spPr>
          <a:xfrm>
            <a:off x="4746650" y="2340864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Tech Lead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46650" y="2651760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player-coach · still ships 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46650" y="2926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6650" y="3090672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Reviews, unblocks and sets direction.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46650" y="3383280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46650" y="3547872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Directs AI across the squad, ships alongside the team and reviews AI-written changes.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30261" y="2139696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30261" y="2139696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341157" y="2340864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System Analyst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41157" y="2651760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 per stream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41157" y="2926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41157" y="3090672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specs &amp; requirement documents.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41157" y="3383280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41157" y="3547872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requirements into specs, test cases and acceptance criteria with AI.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41248" y="4261104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" y="4261104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152144" y="4462272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Full-Stack Engineer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2144" y="4773168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web · mobile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52144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52144" y="521208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front-end features by hand.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52144" y="5504688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52144" y="5669280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Ships full features end-to-end with AI — boilerplate, tests and UI in hours.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35754" y="4261104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35754" y="4261104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4746650" y="4462272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Backend Engineer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46650" y="4773168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services · APIs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46650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46650" y="521208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services &amp; integrations manually.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46650" y="5504688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46650" y="5669280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services, APIs and data contracts with AI; focuses on design &amp; review.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30261" y="4261104"/>
            <a:ext cx="332018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30261" y="4261104"/>
            <a:ext cx="91440" cy="1883664"/>
          </a:xfrm>
          <a:prstGeom prst="roundRect">
            <a:avLst>
              <a:gd name="adj" fmla="val 30000"/>
            </a:avLst>
          </a:prstGeom>
          <a:solidFill>
            <a:srgbClr val="6D5DE6"/>
          </a:solidFill>
          <a:ln/>
        </p:spPr>
      </p:sp>
      <p:sp>
        <p:nvSpPr>
          <p:cNvPr id="48" name="Text 46"/>
          <p:cNvSpPr/>
          <p:nvPr/>
        </p:nvSpPr>
        <p:spPr>
          <a:xfrm>
            <a:off x="8341157" y="4462272"/>
            <a:ext cx="27715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 Engineer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41157" y="4773168"/>
            <a:ext cx="2771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agents · tooling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41157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41157" y="5212080"/>
            <a:ext cx="2753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 (new capability)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41157" y="5504688"/>
            <a:ext cx="27715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41157" y="5669280"/>
            <a:ext cx="27532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16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agents, skills &amp; prompts with AI and shares them to the common AI commons.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Two axes — everyone belongs to both.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2578608"/>
            <a:ext cx="528523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5296" y="2889504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Workstreams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25296" y="340156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Own the outcome · vertical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3858768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 → Tech Leads → 2 squads max each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 ≤ 4 — every role builds with AI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 engineers ship full-stack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contributes to the shared AI commons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47104" y="2578608"/>
            <a:ext cx="528523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31152" y="2889504"/>
            <a:ext cx="4645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Chapters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31152" y="340156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Own the standard · horizontal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31152" y="3858768"/>
            <a:ext cx="4535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Chapters: AI &amp; Engineering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chapter curates the shared AI commons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owns standards &amp; craft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23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people grow their craft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belongs to a </a:t>
            </a:r>
            <a:pPr algn="ctr" indent="0" marL="0">
              <a:buNone/>
            </a:pPr>
            <a:r>
              <a:rPr lang="en-US" sz="16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workstream</a:t>
            </a:r>
            <a:pPr algn="ctr" indent="0" marL="0"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where they deliver — and a </a:t>
            </a:r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chapter</a:t>
            </a:r>
            <a:pPr algn="ctr" indent="0" marL="0"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how they grow.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Lower cost. Higher ownership.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2670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DRIVES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3090672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31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UDE automation across frontend and backend</a:t>
            </a:r>
            <a:endParaRPr lang="en-US" sz="1600" dirty="0"/>
          </a:p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31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Insourced delivery — less vendor dependency</a:t>
            </a:r>
            <a:endParaRPr lang="en-US" sz="1600" dirty="0"/>
          </a:p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31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once, configure per market</a:t>
            </a:r>
            <a:endParaRPr lang="en-US" sz="1600" dirty="0"/>
          </a:p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31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ownership — fewer escalations and rework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2542032"/>
            <a:ext cx="5532120" cy="3456432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8816" y="27797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DIRECTIONAL OUTCOMES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28816" y="32461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↓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150608" y="324612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Delivery cost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28816" y="3840480"/>
            <a:ext cx="4727448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390448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↓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150608" y="390448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Vendor reliance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28816" y="4498848"/>
            <a:ext cx="4727448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456285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↓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150608" y="456285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Time-to-market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8816" y="5157216"/>
            <a:ext cx="4727448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52212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↑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150608" y="522122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Ownership &amp; accountability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61447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to be baselined per market — shown directionally for now.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SAVINGS WITH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Smaller squads — but not all of it is saving.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18653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shrink by roughly half. But a share of that is reinvested into AI tooling and the AI Chapter — so the true net saving is around a third.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5577840"/>
            <a:ext cx="5943600" cy="0"/>
          </a:xfrm>
          <a:prstGeom prst="line">
            <a:avLst/>
          </a:prstGeom>
          <a:noFill/>
          <a:ln w="15875">
            <a:solidFill>
              <a:srgbClr val="E5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200400"/>
            <a:ext cx="1097280" cy="2377440"/>
          </a:xfrm>
          <a:prstGeom prst="roundRect">
            <a:avLst>
              <a:gd name="adj" fmla="val 5000"/>
            </a:avLst>
          </a:prstGeom>
          <a:solidFill>
            <a:srgbClr val="12161D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27980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100%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6928" y="5687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5943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squad cost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4389120"/>
            <a:ext cx="1097280" cy="118872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58568" y="3986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50%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21408" y="5687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Squad reduction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75688" y="5943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~half the seats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50208" y="5102352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6D5DE6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13048" y="4700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3FB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20%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75888" y="5687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Reinvested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5943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tooling + Chapter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04688" y="4864608"/>
            <a:ext cx="1097280" cy="713232"/>
          </a:xfrm>
          <a:prstGeom prst="roundRect">
            <a:avLst>
              <a:gd name="adj" fmla="val 7692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67528" y="4462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30%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230368" y="5687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 saving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4648" y="5943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number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2743200"/>
            <a:ext cx="4446727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14616" y="294436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8A93A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14616" y="32735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31352" y="3310128"/>
            <a:ext cx="2617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Looks like the saving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1352" y="3584448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only count smaller squads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14616" y="3950208"/>
            <a:ext cx="3824935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40233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FB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−20%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31352" y="4059936"/>
            <a:ext cx="2617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Reinvested in AI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31352" y="4334256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Chapter, agents, tooling, evals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14616" y="4700016"/>
            <a:ext cx="3824935" cy="0"/>
          </a:xfrm>
          <a:prstGeom prst="line">
            <a:avLst/>
          </a:prstGeom>
          <a:noFill/>
          <a:ln w="12700">
            <a:solidFill>
              <a:srgbClr val="E9EC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14616" y="47731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531352" y="4809744"/>
            <a:ext cx="2617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6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True net saving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31352" y="5084064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sustainable, with capability built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62544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— to be baselined per workstream.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PEOPLE PRINCIPLE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Change the structure, protect the people.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7008" y="2944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01368" y="2935224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Recast, don't remove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01368" y="342900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project lead maps to a workstream or chapter lead role — titles change, people stay.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47104" y="2697480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12864" y="2944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07224" y="2935224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Reskill, don't replace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07224" y="342900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developers, including vendor staff, are trained as UDE engineers.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4453128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07008" y="47000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01368" y="469087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Insource gradually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01368" y="518464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vendor dependency through conversion and attrition — not cuts.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47104" y="4453128"/>
            <a:ext cx="5285232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12864" y="47000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07224" y="469087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Two ladders, one team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507224" y="518464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through delivery (workstream) or through craft (chapter).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3642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6C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phased path back to workstreams.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2697480"/>
            <a:ext cx="2596896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52144" y="3026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3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PHASE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52144" y="335584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Re-form workstreams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2144" y="4178808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project teams into four workstreams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 Workstream Leads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squad leads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36118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85032" y="2697480"/>
            <a:ext cx="2596896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95928" y="3026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3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PHASE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95928" y="335584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 the team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4178808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System Analysts into workstreams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developers into AI Engineers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72784" y="36118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28816" y="2697480"/>
            <a:ext cx="2596896" cy="2971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9712" y="3026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3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PHASE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39712" y="335584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Scale UDE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9712" y="4178808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UDE chapter builds the tools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first, then backend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16568" y="36118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72600" y="2697480"/>
            <a:ext cx="2596896" cy="2971800"/>
          </a:xfrm>
          <a:prstGeom prst="roundRect">
            <a:avLst>
              <a:gd name="adj" fmla="val 5634"/>
            </a:avLst>
          </a:prstGeom>
          <a:solidFill>
            <a:srgbClr val="EAF1FF"/>
          </a:solidFill>
          <a:ln w="12700">
            <a:solidFill>
              <a:srgbClr val="C7DAFF"/>
            </a:solidFill>
            <a:prstDash val="solid"/>
          </a:ln>
          <a:effectLst>
            <a:outerShdw sx="100000" sy="100000" kx="0" ky="0" algn="bl" rotWithShape="0" blurRad="101600" dist="31750" dir="5400000">
              <a:srgbClr val="8A99B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83496" y="30266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3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PHASE 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83496" y="3355848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spc="-3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3496" y="4178808"/>
            <a:ext cx="202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Release &amp; KTLO teams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025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4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Taper vendor spend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Phases overlap and run people-first — each step is reversible-safe and keeps chapters intact.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691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60" kern="0" dirty="0">
                <a:solidFill>
                  <a:srgbClr val="2563E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WHERE THIS TAKES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21945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spc="-10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Back to ownership.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spc="-100" kern="0" dirty="0">
                <a:solidFill>
                  <a:srgbClr val="5A647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With AI doing the heavy lifting.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41248" y="4407408"/>
            <a:ext cx="10515600" cy="0"/>
          </a:xfrm>
          <a:prstGeom prst="line">
            <a:avLst/>
          </a:prstGeom>
          <a:noFill/>
          <a:ln w="12700">
            <a:solidFill>
              <a:srgbClr val="E5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66344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 </a:t>
            </a:r>
            <a:pPr indent="0" marL="0">
              <a:buNone/>
            </a:pPr>
            <a:r>
              <a:rPr lang="en-US" sz="3400" b="1" spc="-50" kern="0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OWNER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59536" y="5376672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workstream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0148" y="466344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1×  </a:t>
            </a:r>
            <a:pPr indent="0" marL="0">
              <a:buNone/>
            </a:pPr>
            <a:r>
              <a:rPr lang="en-US" sz="3400" b="1" spc="-50" kern="0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88436" y="5376672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 to 5 markets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48" y="466344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↓  </a:t>
            </a:r>
            <a:pPr indent="0" marL="0">
              <a:buNone/>
            </a:pPr>
            <a:r>
              <a:rPr lang="en-US" sz="3400" b="1" spc="-50" kern="0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COST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17336" y="5376672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vendor-light, AI-led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7948" y="466344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2161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  </a:t>
            </a:r>
            <a:pPr indent="0" marL="0">
              <a:buNone/>
            </a:pPr>
            <a:r>
              <a:rPr lang="en-US" sz="3400" b="1" spc="-50" kern="0" dirty="0">
                <a:solidFill>
                  <a:srgbClr val="2563E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SILOS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46236" y="5376672"/>
            <a:ext cx="2354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 back in delivery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Projects, Back to Workstreams</dc:title>
  <dc:subject>PptxGenJS Presentation</dc:subject>
  <dc:creator>PptxGenJS</dc:creator>
  <cp:lastModifiedBy>PptxGenJS</cp:lastModifiedBy>
  <cp:revision>1</cp:revision>
  <dcterms:created xsi:type="dcterms:W3CDTF">2026-05-26T04:57:52Z</dcterms:created>
  <dcterms:modified xsi:type="dcterms:W3CDTF">2026-05-26T04:57:52Z</dcterms:modified>
</cp:coreProperties>
</file>